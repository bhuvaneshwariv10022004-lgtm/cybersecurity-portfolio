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7"/>
  </p:notesMasterIdLst>
  <p:sldIdLst>
    <p:sldId id="256" r:id="rId2"/>
    <p:sldId id="714" r:id="rId3"/>
    <p:sldId id="716" r:id="rId4"/>
    <p:sldId id="713" r:id="rId5"/>
    <p:sldId id="715" r:id="rId6"/>
    <p:sldId id="712" r:id="rId7"/>
    <p:sldId id="676" r:id="rId8"/>
    <p:sldId id="717" r:id="rId9"/>
    <p:sldId id="718" r:id="rId10"/>
    <p:sldId id="719" r:id="rId11"/>
    <p:sldId id="721" r:id="rId12"/>
    <p:sldId id="722" r:id="rId13"/>
    <p:sldId id="720" r:id="rId14"/>
    <p:sldId id="711" r:id="rId15"/>
    <p:sldId id="30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96" d="100"/>
          <a:sy n="96" d="100"/>
        </p:scale>
        <p:origin x="67" y="19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30-04-2026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1194110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12</a:t>
            </a:fld>
            <a:endParaRPr lang="en-IN" dirty="0"/>
          </a:p>
        </p:txBody>
      </p:sp>
    </p:spTree>
    <p:extLst>
      <p:ext uri="{BB962C8B-B14F-4D97-AF65-F5344CB8AC3E}">
        <p14:creationId xmlns:p14="http://schemas.microsoft.com/office/powerpoint/2010/main" val="16482969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ortswigger.net/web-security/cross-site-scripting/reflected/lab-html-context-nothing-encoded"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portswigger.net/web-security/cross-site-scripting/reflected" TargetMode="External"/><Relationship Id="rId2" Type="http://schemas.openxmlformats.org/officeDocument/2006/relationships/hyperlink" Target="https://portswigger.net/web-security" TargetMode="External"/><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46650" y="3202358"/>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Detection and Exploitation of HTML Injection Vulnerability (Reflected XSS)</a:t>
            </a:r>
            <a:endParaRPr lang="en-US" sz="44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7CEADED-65D3-5410-268C-8516932DEB45}"/>
              </a:ext>
            </a:extLst>
          </p:cNvPr>
          <p:cNvSpPr>
            <a:spLocks noGrp="1" noChangeArrowheads="1"/>
          </p:cNvSpPr>
          <p:nvPr>
            <p:ph idx="1"/>
          </p:nvPr>
        </p:nvSpPr>
        <p:spPr bwMode="auto">
          <a:xfrm>
            <a:off x="1731307" y="2671047"/>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ADEF6DEB-27FE-5FF1-FD72-34A7CCE37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107502"/>
          </a:xfrm>
          <a:prstGeom prst="rect">
            <a:avLst/>
          </a:prstGeom>
        </p:spPr>
      </p:pic>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DB28-9E16-F837-F44F-F26D9F6446D9}"/>
              </a:ext>
            </a:extLst>
          </p:cNvPr>
          <p:cNvSpPr>
            <a:spLocks noGrp="1"/>
          </p:cNvSpPr>
          <p:nvPr>
            <p:ph type="title"/>
          </p:nvPr>
        </p:nvSpPr>
        <p:spPr>
          <a:xfrm>
            <a:off x="313124" y="874642"/>
            <a:ext cx="10834234" cy="844209"/>
          </a:xfrm>
        </p:spPr>
        <p:txBody>
          <a:bodyPr>
            <a:noAutofit/>
          </a:bodyPr>
          <a:lstStyle/>
          <a:p>
            <a:r>
              <a:rPr lang="en-IN" sz="3200" dirty="0"/>
              <a:t>RESEARCH</a:t>
            </a:r>
            <a:br>
              <a:rPr lang="en-IN" sz="3200" dirty="0"/>
            </a:br>
            <a:endParaRPr lang="en-IN" sz="3200" dirty="0"/>
          </a:p>
        </p:txBody>
      </p:sp>
      <p:pic>
        <p:nvPicPr>
          <p:cNvPr id="5" name="Content Placeholder 4">
            <a:extLst>
              <a:ext uri="{FF2B5EF4-FFF2-40B4-BE49-F238E27FC236}">
                <a16:creationId xmlns:a16="http://schemas.microsoft.com/office/drawing/2014/main" id="{776BBFC6-147B-2F79-B5E7-9D47586C89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46072" y="-2"/>
            <a:ext cx="5345927" cy="6146360"/>
          </a:xfrm>
          <a:prstGeom prst="rect">
            <a:avLst/>
          </a:prstGeom>
        </p:spPr>
      </p:pic>
      <p:sp>
        <p:nvSpPr>
          <p:cNvPr id="7" name="TextBox 6">
            <a:extLst>
              <a:ext uri="{FF2B5EF4-FFF2-40B4-BE49-F238E27FC236}">
                <a16:creationId xmlns:a16="http://schemas.microsoft.com/office/drawing/2014/main" id="{6E3F1392-F23D-7E84-E5D5-8CBB0124ECF5}"/>
              </a:ext>
            </a:extLst>
          </p:cNvPr>
          <p:cNvSpPr txBox="1"/>
          <p:nvPr/>
        </p:nvSpPr>
        <p:spPr>
          <a:xfrm>
            <a:off x="313124" y="1718852"/>
            <a:ext cx="8828888"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Name:</a:t>
            </a:r>
            <a:r>
              <a:rPr kumimoji="0" lang="en-US" altLang="en-US" sz="1800" b="0" i="0" u="none" strike="noStrike" cap="none" normalizeH="0" baseline="0" dirty="0">
                <a:ln>
                  <a:noFill/>
                </a:ln>
                <a:solidFill>
                  <a:schemeClr val="tx1"/>
                </a:solidFill>
                <a:effectLst/>
                <a:latin typeface="Arial" panose="020B0604020202020204" pitchFamily="34" charset="0"/>
              </a:rPr>
              <a:t> PortSwigger Web Security Academy Lab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Arial" panose="020B0604020202020204" pitchFamily="34" charset="0"/>
              </a:rPr>
              <a:t>URL:</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sz="1800" dirty="0">
                <a:hlinkClick r:id="rId3"/>
              </a:rPr>
              <a:t>Lab: Reflected XSS into HTML context with </a:t>
            </a:r>
          </a:p>
          <a:p>
            <a:pPr marL="0" lvl="0" indent="0" eaLnBrk="0" fontAlgn="base" hangingPunct="0">
              <a:lnSpc>
                <a:spcPct val="100000"/>
              </a:lnSpc>
              <a:spcBef>
                <a:spcPct val="0"/>
              </a:spcBef>
              <a:spcAft>
                <a:spcPct val="0"/>
              </a:spcAft>
              <a:buNone/>
            </a:pPr>
            <a:r>
              <a:rPr lang="en-US" sz="1800" dirty="0">
                <a:hlinkClick r:id="rId3"/>
              </a:rPr>
              <a:t>nothing encoded | Web Security Academy</a:t>
            </a:r>
            <a:endParaRPr lang="en-US" sz="1800" dirty="0"/>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Category:</a:t>
            </a:r>
            <a:r>
              <a:rPr kumimoji="0" lang="en-US" altLang="en-US" sz="1800" b="0" i="0" u="none" strike="noStrike" cap="none" normalizeH="0" baseline="0" dirty="0">
                <a:ln>
                  <a:noFill/>
                </a:ln>
                <a:solidFill>
                  <a:schemeClr val="tx1"/>
                </a:solidFill>
                <a:effectLst/>
                <a:latin typeface="Arial" panose="020B0604020202020204" pitchFamily="34" charset="0"/>
              </a:rPr>
              <a:t> Cybersecurity Training Platform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Type:</a:t>
            </a:r>
            <a:r>
              <a:rPr kumimoji="0" lang="en-US" altLang="en-US" sz="1800" b="0" i="0" u="none" strike="noStrike" cap="none" normalizeH="0" baseline="0" dirty="0">
                <a:ln>
                  <a:noFill/>
                </a:ln>
                <a:solidFill>
                  <a:schemeClr val="tx1"/>
                </a:solidFill>
                <a:effectLst/>
                <a:latin typeface="Arial" panose="020B0604020202020204" pitchFamily="34" charset="0"/>
              </a:rPr>
              <a:t> Vulnerable Web Application (Lab Environment)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lvl="0"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Popularity:</a:t>
            </a:r>
            <a:r>
              <a:rPr kumimoji="0" lang="en-US" altLang="en-US" sz="1800" b="0" i="0" u="none" strike="noStrike" cap="none" normalizeH="0" baseline="0" dirty="0">
                <a:ln>
                  <a:noFill/>
                </a:ln>
                <a:solidFill>
                  <a:schemeClr val="tx1"/>
                </a:solidFill>
                <a:effectLst/>
                <a:latin typeface="Arial" panose="020B0604020202020204" pitchFamily="34" charset="0"/>
              </a:rPr>
              <a:t>The platform is widely used by </a:t>
            </a:r>
            <a:r>
              <a:rPr lang="en-US" altLang="en-US" dirty="0">
                <a:latin typeface="Arial" panose="020B0604020202020204" pitchFamily="34" charset="0"/>
              </a:rPr>
              <a:t>cybersecurity</a:t>
            </a:r>
          </a:p>
          <a:p>
            <a:pPr lvl="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learners and professionals for practicing</a:t>
            </a: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real-world </a:t>
            </a:r>
          </a:p>
          <a:p>
            <a:pPr lvl="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vulnerabilities. </a:t>
            </a:r>
          </a:p>
        </p:txBody>
      </p:sp>
    </p:spTree>
    <p:extLst>
      <p:ext uri="{BB962C8B-B14F-4D97-AF65-F5344CB8AC3E}">
        <p14:creationId xmlns:p14="http://schemas.microsoft.com/office/powerpoint/2010/main" val="682529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284672" y="388189"/>
            <a:ext cx="5501448" cy="1518249"/>
          </a:xfrm>
        </p:spPr>
        <p:txBody>
          <a:bodyPr/>
          <a:lstStyle/>
          <a:p>
            <a:r>
              <a:rPr lang="en-IN" dirty="0"/>
              <a:t>TECHNOLOGY STACK</a:t>
            </a:r>
          </a:p>
        </p:txBody>
      </p:sp>
      <p:sp>
        <p:nvSpPr>
          <p:cNvPr id="2" name="Content Placeholder 1">
            <a:extLst>
              <a:ext uri="{FF2B5EF4-FFF2-40B4-BE49-F238E27FC236}">
                <a16:creationId xmlns:a16="http://schemas.microsoft.com/office/drawing/2014/main" id="{44A7027D-06B9-B09B-62FF-5535DC1595B9}"/>
              </a:ext>
            </a:extLst>
          </p:cNvPr>
          <p:cNvSpPr>
            <a:spLocks noGrp="1" noChangeArrowheads="1"/>
          </p:cNvSpPr>
          <p:nvPr>
            <p:ph idx="1"/>
          </p:nvPr>
        </p:nvSpPr>
        <p:spPr bwMode="auto">
          <a:xfrm>
            <a:off x="284672" y="2041096"/>
            <a:ext cx="512188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Frontend:</a:t>
            </a:r>
            <a:r>
              <a:rPr kumimoji="0" lang="en-US" altLang="en-US" sz="1800" b="0" i="0" u="none" strike="noStrike" cap="none" normalizeH="0" baseline="0" dirty="0">
                <a:ln>
                  <a:noFill/>
                </a:ln>
                <a:solidFill>
                  <a:schemeClr val="tx1"/>
                </a:solidFill>
                <a:effectLst/>
                <a:latin typeface="Arial" panose="020B0604020202020204" pitchFamily="34" charset="0"/>
              </a:rPr>
              <a:t> HTML, CSS, JavaScript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Backend:</a:t>
            </a:r>
            <a:r>
              <a:rPr kumimoji="0" lang="en-US" altLang="en-US" sz="1800" b="0" i="0" u="none" strike="noStrike" cap="none" normalizeH="0" baseline="0" dirty="0">
                <a:ln>
                  <a:noFill/>
                </a:ln>
                <a:solidFill>
                  <a:schemeClr val="tx1"/>
                </a:solidFill>
                <a:effectLst/>
                <a:latin typeface="Arial" panose="020B0604020202020204" pitchFamily="34" charset="0"/>
              </a:rPr>
              <a:t> Likely Java-based or Node.js (Lab environment)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Browser Used:</a:t>
            </a:r>
            <a:r>
              <a:rPr kumimoji="0" lang="en-US" altLang="en-US" sz="1800" b="0" i="0" u="none" strike="noStrike" cap="none" normalizeH="0" baseline="0" dirty="0">
                <a:ln>
                  <a:noFill/>
                </a:ln>
                <a:solidFill>
                  <a:schemeClr val="tx1"/>
                </a:solidFill>
                <a:effectLst/>
                <a:latin typeface="Arial" panose="020B0604020202020204" pitchFamily="34" charset="0"/>
              </a:rPr>
              <a:t> Chromium (via Burp Suite)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Testing Tool:</a:t>
            </a:r>
            <a:r>
              <a:rPr kumimoji="0" lang="en-US" altLang="en-US" sz="1800" b="0" i="0" u="none" strike="noStrike" cap="none" normalizeH="0" baseline="0" dirty="0">
                <a:ln>
                  <a:noFill/>
                </a:ln>
                <a:solidFill>
                  <a:schemeClr val="tx1"/>
                </a:solidFill>
                <a:effectLst/>
                <a:latin typeface="Arial" panose="020B0604020202020204" pitchFamily="34" charset="0"/>
              </a:rPr>
              <a:t> Burp Suite (Proxy Browser) </a:t>
            </a:r>
          </a:p>
        </p:txBody>
      </p:sp>
      <p:pic>
        <p:nvPicPr>
          <p:cNvPr id="6" name="Picture 5">
            <a:extLst>
              <a:ext uri="{FF2B5EF4-FFF2-40B4-BE49-F238E27FC236}">
                <a16:creationId xmlns:a16="http://schemas.microsoft.com/office/drawing/2014/main" id="{746BBA2C-1EAF-C072-E524-C1B30689BB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1" y="0"/>
            <a:ext cx="6096000" cy="6142008"/>
          </a:xfrm>
          <a:prstGeom prst="rect">
            <a:avLst/>
          </a:prstGeom>
        </p:spPr>
      </p:pic>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81E52-5DA5-5B41-24EF-0955806487EA}"/>
              </a:ext>
            </a:extLst>
          </p:cNvPr>
          <p:cNvSpPr>
            <a:spLocks noGrp="1"/>
          </p:cNvSpPr>
          <p:nvPr>
            <p:ph type="title"/>
          </p:nvPr>
        </p:nvSpPr>
        <p:spPr>
          <a:xfrm>
            <a:off x="198408" y="155275"/>
            <a:ext cx="5587712" cy="1061165"/>
          </a:xfrm>
        </p:spPr>
        <p:txBody>
          <a:bodyPr>
            <a:normAutofit/>
          </a:bodyPr>
          <a:lstStyle/>
          <a:p>
            <a:r>
              <a:rPr lang="en-IN" dirty="0"/>
              <a:t>VULNERABILITY DESCRIPTION</a:t>
            </a:r>
          </a:p>
        </p:txBody>
      </p:sp>
      <p:sp>
        <p:nvSpPr>
          <p:cNvPr id="3" name="Content Placeholder 2">
            <a:extLst>
              <a:ext uri="{FF2B5EF4-FFF2-40B4-BE49-F238E27FC236}">
                <a16:creationId xmlns:a16="http://schemas.microsoft.com/office/drawing/2014/main" id="{CDBC4AD3-5BFD-EF79-1AE0-B17828ECACA4}"/>
              </a:ext>
            </a:extLst>
          </p:cNvPr>
          <p:cNvSpPr>
            <a:spLocks noGrp="1"/>
          </p:cNvSpPr>
          <p:nvPr>
            <p:ph idx="1"/>
          </p:nvPr>
        </p:nvSpPr>
        <p:spPr>
          <a:xfrm>
            <a:off x="198408" y="1121434"/>
            <a:ext cx="5897591" cy="4936468"/>
          </a:xfrm>
        </p:spPr>
        <p:txBody>
          <a:bodyPr>
            <a:normAutofit/>
          </a:bodyPr>
          <a:lstStyle/>
          <a:p>
            <a:pPr marL="0" indent="0">
              <a:buNone/>
            </a:pPr>
            <a:endParaRPr lang="en-US" sz="1800" b="1" dirty="0"/>
          </a:p>
          <a:p>
            <a:pPr marL="0" indent="0">
              <a:buNone/>
            </a:pPr>
            <a:r>
              <a:rPr lang="en-US" sz="1800" b="1" dirty="0"/>
              <a:t>Type: </a:t>
            </a:r>
            <a:r>
              <a:rPr lang="en-US" sz="1800" dirty="0"/>
              <a:t>Reflected XSS (HTML Injection)</a:t>
            </a:r>
          </a:p>
          <a:p>
            <a:pPr marL="0" indent="0">
              <a:buNone/>
            </a:pPr>
            <a:endParaRPr lang="en-US" sz="1800" dirty="0"/>
          </a:p>
          <a:p>
            <a:pPr marL="0" indent="0">
              <a:buNone/>
            </a:pPr>
            <a:r>
              <a:rPr lang="en-US" sz="1800" b="1" dirty="0"/>
              <a:t>Explanation:</a:t>
            </a:r>
            <a:r>
              <a:rPr lang="en-US" sz="1800" dirty="0"/>
              <a:t>The application takes user input from the search field and directly reflects it in the response without encoding.</a:t>
            </a:r>
          </a:p>
          <a:p>
            <a:pPr marL="0" indent="0">
              <a:buNone/>
            </a:pPr>
            <a:endParaRPr lang="en-US" sz="1800" dirty="0"/>
          </a:p>
          <a:p>
            <a:pPr marL="0" indent="0">
              <a:buNone/>
            </a:pPr>
            <a:r>
              <a:rPr lang="en-US" sz="1800" b="1" dirty="0"/>
              <a:t>This allows attackers to inject malicious scripts such as:</a:t>
            </a:r>
          </a:p>
          <a:p>
            <a:pPr marL="0" indent="0">
              <a:buNone/>
            </a:pPr>
            <a:r>
              <a:rPr lang="en-US" sz="1800" dirty="0"/>
              <a:t>                &lt;/&gt; HTML</a:t>
            </a:r>
          </a:p>
          <a:p>
            <a:pPr marL="0" indent="0">
              <a:buNone/>
            </a:pPr>
            <a:r>
              <a:rPr lang="en-US" sz="1800" dirty="0"/>
              <a:t>                &lt;script&gt;alert(1)&lt;/script&gt;</a:t>
            </a:r>
          </a:p>
          <a:p>
            <a:endParaRPr lang="en-IN" sz="1800" dirty="0"/>
          </a:p>
        </p:txBody>
      </p:sp>
      <p:pic>
        <p:nvPicPr>
          <p:cNvPr id="5" name="Picture 4">
            <a:extLst>
              <a:ext uri="{FF2B5EF4-FFF2-40B4-BE49-F238E27FC236}">
                <a16:creationId xmlns:a16="http://schemas.microsoft.com/office/drawing/2014/main" id="{33D38953-A921-956F-F03A-9321C9B237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8" y="0"/>
            <a:ext cx="6096001" cy="6124755"/>
          </a:xfrm>
          <a:prstGeom prst="rect">
            <a:avLst/>
          </a:prstGeom>
        </p:spPr>
      </p:pic>
    </p:spTree>
    <p:extLst>
      <p:ext uri="{BB962C8B-B14F-4D97-AF65-F5344CB8AC3E}">
        <p14:creationId xmlns:p14="http://schemas.microsoft.com/office/powerpoint/2010/main" val="1562520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r>
              <a:rPr lang="en-IN" dirty="0"/>
              <a:t>PROOF OF CONCEPT (PoC)</a:t>
            </a: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p:txBody>
          <a:bodyPr/>
          <a:lstStyle/>
          <a:p>
            <a:pPr marL="0" indent="0">
              <a:buNone/>
            </a:pPr>
            <a:r>
              <a:rPr lang="en-US" sz="1800" b="1" dirty="0"/>
              <a:t>Step-by-Step Attack:</a:t>
            </a:r>
          </a:p>
          <a:p>
            <a:pPr marL="0" indent="0">
              <a:buNone/>
            </a:pPr>
            <a:endParaRPr lang="en-US" sz="1800" b="1" dirty="0"/>
          </a:p>
          <a:p>
            <a:pPr marL="342900" indent="-342900">
              <a:buFont typeface="+mj-lt"/>
              <a:buAutoNum type="arabicPeriod"/>
            </a:pPr>
            <a:r>
              <a:rPr lang="en-US" sz="1800" dirty="0"/>
              <a:t>Open the lab website </a:t>
            </a:r>
          </a:p>
          <a:p>
            <a:pPr marL="342900" indent="-342900">
              <a:buFont typeface="+mj-lt"/>
              <a:buAutoNum type="arabicPeriod"/>
            </a:pPr>
            <a:r>
              <a:rPr lang="en-US" sz="1800" dirty="0"/>
              <a:t>Go to the search bar </a:t>
            </a:r>
          </a:p>
          <a:p>
            <a:pPr marL="342900" indent="-342900">
              <a:buFont typeface="+mj-lt"/>
              <a:buAutoNum type="arabicPeriod"/>
            </a:pPr>
            <a:r>
              <a:rPr lang="en-US" sz="1800" dirty="0"/>
              <a:t>Enter payload:  &lt;script&gt;alert(1)&lt;/script&gt;</a:t>
            </a:r>
          </a:p>
          <a:p>
            <a:pPr marL="342900" indent="-342900">
              <a:buFont typeface="+mj-lt"/>
              <a:buAutoNum type="arabicPeriod"/>
            </a:pPr>
            <a:r>
              <a:rPr lang="en-US" sz="1800" dirty="0"/>
              <a:t>Submit the request </a:t>
            </a:r>
          </a:p>
          <a:p>
            <a:pPr marL="342900" indent="-342900">
              <a:buFont typeface="+mj-lt"/>
              <a:buAutoNum type="arabicPeriod"/>
            </a:pPr>
            <a:r>
              <a:rPr lang="en-US" sz="1800" dirty="0"/>
              <a:t>Observe JavaScript execution (popup alert) </a:t>
            </a:r>
          </a:p>
          <a:p>
            <a:endParaRPr lang="en-IN" sz="1800" dirty="0"/>
          </a:p>
        </p:txBody>
      </p:sp>
      <p:pic>
        <p:nvPicPr>
          <p:cNvPr id="3" name="Picture 2">
            <a:extLst>
              <a:ext uri="{FF2B5EF4-FFF2-40B4-BE49-F238E27FC236}">
                <a16:creationId xmlns:a16="http://schemas.microsoft.com/office/drawing/2014/main" id="{7D9C489A-DAAB-C96D-2150-EB670141A8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470" y="-10694"/>
            <a:ext cx="2162755" cy="6868693"/>
          </a:xfrm>
          <a:prstGeom prst="rect">
            <a:avLst/>
          </a:prstGeom>
        </p:spPr>
      </p:pic>
    </p:spTree>
    <p:extLst>
      <p:ext uri="{BB962C8B-B14F-4D97-AF65-F5344CB8AC3E}">
        <p14:creationId xmlns:p14="http://schemas.microsoft.com/office/powerpoint/2010/main" val="1594365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a:t>Figure 1: Initial vulnerable website homepage</a:t>
            </a:r>
            <a:endParaRPr lang="en-US" dirty="0"/>
          </a:p>
        </p:txBody>
      </p:sp>
      <p:pic>
        <p:nvPicPr>
          <p:cNvPr id="7" name="Content Placeholder 6">
            <a:extLst>
              <a:ext uri="{FF2B5EF4-FFF2-40B4-BE49-F238E27FC236}">
                <a16:creationId xmlns:a16="http://schemas.microsoft.com/office/drawing/2014/main" id="{0B436DA9-F1CA-9926-43C9-EA141AEF949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80445" y="1296063"/>
            <a:ext cx="11147729" cy="4786684"/>
          </a:xfrm>
          <a:prstGeom prst="rect">
            <a:avLst/>
          </a:prstGeom>
        </p:spPr>
      </p:pic>
    </p:spTree>
    <p:extLst>
      <p:ext uri="{BB962C8B-B14F-4D97-AF65-F5344CB8AC3E}">
        <p14:creationId xmlns:p14="http://schemas.microsoft.com/office/powerpoint/2010/main" val="2845992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492B7-6EA8-88ED-803C-24FFA5061629}"/>
              </a:ext>
            </a:extLst>
          </p:cNvPr>
          <p:cNvSpPr>
            <a:spLocks noGrp="1"/>
          </p:cNvSpPr>
          <p:nvPr>
            <p:ph type="title"/>
          </p:nvPr>
        </p:nvSpPr>
        <p:spPr/>
        <p:txBody>
          <a:bodyPr/>
          <a:lstStyle/>
          <a:p>
            <a:r>
              <a:rPr lang="en-US" dirty="0"/>
              <a:t>Figure 2: Injecting malicious script into search field</a:t>
            </a:r>
            <a:endParaRPr lang="en-IN" dirty="0"/>
          </a:p>
        </p:txBody>
      </p:sp>
      <p:pic>
        <p:nvPicPr>
          <p:cNvPr id="5" name="Content Placeholder 4">
            <a:extLst>
              <a:ext uri="{FF2B5EF4-FFF2-40B4-BE49-F238E27FC236}">
                <a16:creationId xmlns:a16="http://schemas.microsoft.com/office/drawing/2014/main" id="{14271DE6-BBAA-F8B0-7CDE-C11F5477593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8881" y="1486893"/>
            <a:ext cx="10834234" cy="4586881"/>
          </a:xfrm>
          <a:prstGeom prst="rect">
            <a:avLst/>
          </a:prstGeom>
        </p:spPr>
      </p:pic>
    </p:spTree>
    <p:extLst>
      <p:ext uri="{BB962C8B-B14F-4D97-AF65-F5344CB8AC3E}">
        <p14:creationId xmlns:p14="http://schemas.microsoft.com/office/powerpoint/2010/main" val="3007562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0D006-ED9D-7271-DCE9-FEE17B703503}"/>
              </a:ext>
            </a:extLst>
          </p:cNvPr>
          <p:cNvSpPr>
            <a:spLocks noGrp="1"/>
          </p:cNvSpPr>
          <p:nvPr>
            <p:ph type="title"/>
          </p:nvPr>
        </p:nvSpPr>
        <p:spPr/>
        <p:txBody>
          <a:bodyPr/>
          <a:lstStyle/>
          <a:p>
            <a:r>
              <a:rPr lang="en-US" dirty="0"/>
              <a:t>Figure 3: Successful execution of injected script (alert box)</a:t>
            </a:r>
            <a:endParaRPr lang="en-IN" dirty="0"/>
          </a:p>
        </p:txBody>
      </p:sp>
      <p:pic>
        <p:nvPicPr>
          <p:cNvPr id="5" name="Content Placeholder 4">
            <a:extLst>
              <a:ext uri="{FF2B5EF4-FFF2-40B4-BE49-F238E27FC236}">
                <a16:creationId xmlns:a16="http://schemas.microsoft.com/office/drawing/2014/main" id="{466E8A91-C8A4-4C41-2C99-BFD056E595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9450" y="1542553"/>
            <a:ext cx="10833100" cy="3108960"/>
          </a:xfrm>
          <a:prstGeom prst="rect">
            <a:avLst/>
          </a:prstGeom>
        </p:spPr>
      </p:pic>
    </p:spTree>
    <p:extLst>
      <p:ext uri="{BB962C8B-B14F-4D97-AF65-F5344CB8AC3E}">
        <p14:creationId xmlns:p14="http://schemas.microsoft.com/office/powerpoint/2010/main" val="2558184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30D5-181F-6E6D-8313-1FED28AFA06C}"/>
              </a:ext>
            </a:extLst>
          </p:cNvPr>
          <p:cNvSpPr>
            <a:spLocks noGrp="1"/>
          </p:cNvSpPr>
          <p:nvPr>
            <p:ph type="title"/>
          </p:nvPr>
        </p:nvSpPr>
        <p:spPr>
          <a:xfrm>
            <a:off x="222637" y="603666"/>
            <a:ext cx="11290481" cy="612775"/>
          </a:xfrm>
        </p:spPr>
        <p:txBody>
          <a:bodyPr/>
          <a:lstStyle/>
          <a:p>
            <a:r>
              <a:rPr lang="en-IN" dirty="0"/>
              <a:t>IMPACT ANALYSIS</a:t>
            </a:r>
          </a:p>
        </p:txBody>
      </p:sp>
      <p:sp>
        <p:nvSpPr>
          <p:cNvPr id="3" name="Content Placeholder 2">
            <a:extLst>
              <a:ext uri="{FF2B5EF4-FFF2-40B4-BE49-F238E27FC236}">
                <a16:creationId xmlns:a16="http://schemas.microsoft.com/office/drawing/2014/main" id="{1D44C9BF-EC9D-F4AD-3582-5CECE25E5B8F}"/>
              </a:ext>
            </a:extLst>
          </p:cNvPr>
          <p:cNvSpPr>
            <a:spLocks noGrp="1"/>
          </p:cNvSpPr>
          <p:nvPr>
            <p:ph idx="1"/>
          </p:nvPr>
        </p:nvSpPr>
        <p:spPr>
          <a:xfrm>
            <a:off x="222637" y="1304014"/>
            <a:ext cx="8078525" cy="4055165"/>
          </a:xfrm>
        </p:spPr>
        <p:txBody>
          <a:bodyPr>
            <a:normAutofit/>
          </a:bodyPr>
          <a:lstStyle/>
          <a:p>
            <a:pPr marL="0" indent="0">
              <a:buNone/>
            </a:pPr>
            <a:r>
              <a:rPr lang="en-IN" sz="1900" dirty="0"/>
              <a:t>This vulnerability is classified under: OWASP Top 10 - A03: Injection</a:t>
            </a:r>
          </a:p>
          <a:p>
            <a:pPr marL="0" indent="0">
              <a:buNone/>
            </a:pPr>
            <a:r>
              <a:rPr lang="en-IN" sz="1900" b="1" dirty="0"/>
              <a:t>Potential Impacts:</a:t>
            </a:r>
          </a:p>
          <a:p>
            <a:r>
              <a:rPr lang="en-IN" sz="1900" dirty="0"/>
              <a:t>Session hijacking </a:t>
            </a:r>
          </a:p>
          <a:p>
            <a:r>
              <a:rPr lang="en-IN" sz="1900" dirty="0"/>
              <a:t>Cookie theft </a:t>
            </a:r>
          </a:p>
          <a:p>
            <a:r>
              <a:rPr lang="en-IN" sz="1900" dirty="0"/>
              <a:t>Phishing attacks </a:t>
            </a:r>
          </a:p>
          <a:p>
            <a:r>
              <a:rPr lang="en-IN" sz="1900" dirty="0"/>
              <a:t>Defacement of website </a:t>
            </a:r>
          </a:p>
          <a:p>
            <a:r>
              <a:rPr lang="en-IN" sz="1900" dirty="0"/>
              <a:t>Malicious redirection</a:t>
            </a:r>
          </a:p>
          <a:p>
            <a:pPr marL="0" indent="0">
              <a:buNone/>
            </a:pPr>
            <a:r>
              <a:rPr lang="en-IN" sz="1900" dirty="0"/>
              <a:t> </a:t>
            </a:r>
          </a:p>
          <a:p>
            <a:pPr marL="0" indent="0">
              <a:buNone/>
            </a:pPr>
            <a:r>
              <a:rPr lang="en-IN" sz="1900" b="1" dirty="0"/>
              <a:t>Severity:</a:t>
            </a:r>
          </a:p>
          <a:p>
            <a:r>
              <a:rPr lang="en-IN" sz="1900" b="1" dirty="0"/>
              <a:t>High</a:t>
            </a:r>
            <a:r>
              <a:rPr lang="en-IN" sz="1900" dirty="0"/>
              <a:t>, because attacker-controlled scripts execute in the victim’s browser.</a:t>
            </a:r>
          </a:p>
          <a:p>
            <a:pPr marL="0" indent="0">
              <a:buNone/>
            </a:pPr>
            <a:endParaRPr lang="en-IN" dirty="0"/>
          </a:p>
        </p:txBody>
      </p:sp>
      <p:pic>
        <p:nvPicPr>
          <p:cNvPr id="7" name="Picture 6">
            <a:extLst>
              <a:ext uri="{FF2B5EF4-FFF2-40B4-BE49-F238E27FC236}">
                <a16:creationId xmlns:a16="http://schemas.microsoft.com/office/drawing/2014/main" id="{A5A00104-E3FA-28A0-7207-D725E329B9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3326" y="111318"/>
            <a:ext cx="3808674" cy="6035040"/>
          </a:xfrm>
          <a:prstGeom prst="rect">
            <a:avLst/>
          </a:prstGeom>
        </p:spPr>
      </p:pic>
    </p:spTree>
    <p:extLst>
      <p:ext uri="{BB962C8B-B14F-4D97-AF65-F5344CB8AC3E}">
        <p14:creationId xmlns:p14="http://schemas.microsoft.com/office/powerpoint/2010/main" val="1900121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22238-6A36-502A-C3DA-C948C7DCAF38}"/>
              </a:ext>
            </a:extLst>
          </p:cNvPr>
          <p:cNvSpPr>
            <a:spLocks noGrp="1"/>
          </p:cNvSpPr>
          <p:nvPr>
            <p:ph type="title"/>
          </p:nvPr>
        </p:nvSpPr>
        <p:spPr>
          <a:xfrm>
            <a:off x="222637" y="603666"/>
            <a:ext cx="11290481" cy="612775"/>
          </a:xfrm>
        </p:spPr>
        <p:txBody>
          <a:bodyPr/>
          <a:lstStyle/>
          <a:p>
            <a:r>
              <a:rPr lang="en-IN" dirty="0"/>
              <a:t>CODE / TOOLS USED</a:t>
            </a:r>
          </a:p>
        </p:txBody>
      </p:sp>
      <p:sp>
        <p:nvSpPr>
          <p:cNvPr id="3" name="Content Placeholder 2">
            <a:extLst>
              <a:ext uri="{FF2B5EF4-FFF2-40B4-BE49-F238E27FC236}">
                <a16:creationId xmlns:a16="http://schemas.microsoft.com/office/drawing/2014/main" id="{49AAC43D-F543-183C-76BE-1ADB1DA984E1}"/>
              </a:ext>
            </a:extLst>
          </p:cNvPr>
          <p:cNvSpPr>
            <a:spLocks noGrp="1"/>
          </p:cNvSpPr>
          <p:nvPr>
            <p:ph idx="1"/>
          </p:nvPr>
        </p:nvSpPr>
        <p:spPr>
          <a:xfrm>
            <a:off x="445273" y="1516049"/>
            <a:ext cx="10611598" cy="4398066"/>
          </a:xfrm>
        </p:spPr>
        <p:txBody>
          <a:bodyPr/>
          <a:lstStyle/>
          <a:p>
            <a:pPr marL="0" indent="0">
              <a:buNone/>
            </a:pPr>
            <a:r>
              <a:rPr lang="en-IN" sz="1800" b="1" dirty="0"/>
              <a:t>Tools:</a:t>
            </a:r>
          </a:p>
          <a:p>
            <a:r>
              <a:rPr lang="en-IN" sz="1800" dirty="0"/>
              <a:t>Burp Suite (Chromium Browser) </a:t>
            </a:r>
          </a:p>
          <a:p>
            <a:r>
              <a:rPr lang="en-IN" sz="1800" dirty="0"/>
              <a:t>Web Browser (Chrome) </a:t>
            </a:r>
          </a:p>
          <a:p>
            <a:pPr marL="0" indent="0">
              <a:buNone/>
            </a:pPr>
            <a:endParaRPr lang="en-IN" sz="1800" dirty="0"/>
          </a:p>
          <a:p>
            <a:pPr marL="0" indent="0">
              <a:buNone/>
            </a:pPr>
            <a:r>
              <a:rPr lang="en-IN" sz="1800" b="1" dirty="0"/>
              <a:t> Payload Used:</a:t>
            </a:r>
          </a:p>
          <a:p>
            <a:r>
              <a:rPr lang="en-IN" sz="1800" dirty="0"/>
              <a:t>&lt;script&gt;alert(1)&lt;/script&gt;</a:t>
            </a:r>
          </a:p>
          <a:p>
            <a:pPr marL="0" indent="0">
              <a:buNone/>
            </a:pPr>
            <a:endParaRPr lang="en-IN" dirty="0"/>
          </a:p>
        </p:txBody>
      </p:sp>
      <p:pic>
        <p:nvPicPr>
          <p:cNvPr id="5" name="Picture 4">
            <a:extLst>
              <a:ext uri="{FF2B5EF4-FFF2-40B4-BE49-F238E27FC236}">
                <a16:creationId xmlns:a16="http://schemas.microsoft.com/office/drawing/2014/main" id="{8B3F1DF7-2A69-C193-1DBD-115544B7D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2790" y="1"/>
            <a:ext cx="6769210" cy="6106602"/>
          </a:xfrm>
          <a:prstGeom prst="rect">
            <a:avLst/>
          </a:prstGeom>
        </p:spPr>
      </p:pic>
    </p:spTree>
    <p:extLst>
      <p:ext uri="{BB962C8B-B14F-4D97-AF65-F5344CB8AC3E}">
        <p14:creationId xmlns:p14="http://schemas.microsoft.com/office/powerpoint/2010/main" val="1233953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04911-FD32-73A7-4007-6852387DD3FC}"/>
              </a:ext>
            </a:extLst>
          </p:cNvPr>
          <p:cNvSpPr>
            <a:spLocks noGrp="1"/>
          </p:cNvSpPr>
          <p:nvPr>
            <p:ph type="title"/>
          </p:nvPr>
        </p:nvSpPr>
        <p:spPr>
          <a:xfrm>
            <a:off x="246490" y="603666"/>
            <a:ext cx="11266628" cy="612775"/>
          </a:xfrm>
        </p:spPr>
        <p:txBody>
          <a:bodyPr/>
          <a:lstStyle/>
          <a:p>
            <a:r>
              <a:rPr lang="en-IN" dirty="0"/>
              <a:t>RECOMMENDATIONS (MITIGATION)</a:t>
            </a:r>
          </a:p>
        </p:txBody>
      </p:sp>
      <p:sp>
        <p:nvSpPr>
          <p:cNvPr id="3" name="Content Placeholder 2">
            <a:extLst>
              <a:ext uri="{FF2B5EF4-FFF2-40B4-BE49-F238E27FC236}">
                <a16:creationId xmlns:a16="http://schemas.microsoft.com/office/drawing/2014/main" id="{2787619E-56A6-C4D0-F709-0E316A9A56BD}"/>
              </a:ext>
            </a:extLst>
          </p:cNvPr>
          <p:cNvSpPr>
            <a:spLocks noGrp="1"/>
          </p:cNvSpPr>
          <p:nvPr>
            <p:ph idx="1"/>
          </p:nvPr>
        </p:nvSpPr>
        <p:spPr>
          <a:xfrm>
            <a:off x="246490" y="1216441"/>
            <a:ext cx="11266628" cy="4856700"/>
          </a:xfrm>
        </p:spPr>
        <p:txBody>
          <a:bodyPr>
            <a:normAutofit fontScale="77500" lnSpcReduction="20000"/>
          </a:bodyPr>
          <a:lstStyle/>
          <a:p>
            <a:pPr marL="0" indent="0">
              <a:buNone/>
            </a:pPr>
            <a:r>
              <a:rPr lang="en-IN" sz="2300" b="1" dirty="0"/>
              <a:t>Secure Coding Practices:</a:t>
            </a:r>
          </a:p>
          <a:p>
            <a:r>
              <a:rPr lang="en-IN" sz="2300" dirty="0"/>
              <a:t>Input validation (whitelist approach) </a:t>
            </a:r>
          </a:p>
          <a:p>
            <a:r>
              <a:rPr lang="en-IN" sz="2300" dirty="0"/>
              <a:t>Output encoding (HTML entity encoding) </a:t>
            </a:r>
          </a:p>
          <a:p>
            <a:r>
              <a:rPr lang="en-IN" sz="2300" dirty="0"/>
              <a:t>Use frameworks with built-in protection </a:t>
            </a:r>
          </a:p>
          <a:p>
            <a:pPr marL="0" indent="0">
              <a:buNone/>
            </a:pPr>
            <a:endParaRPr lang="en-IN" sz="2300" dirty="0"/>
          </a:p>
          <a:p>
            <a:pPr marL="0" indent="0">
              <a:buNone/>
            </a:pPr>
            <a:r>
              <a:rPr lang="en-IN" sz="2300" b="1" dirty="0"/>
              <a:t>Security Controls:</a:t>
            </a:r>
          </a:p>
          <a:p>
            <a:r>
              <a:rPr lang="en-IN" sz="2300" dirty="0"/>
              <a:t>Implement Content Security Policy (CSP) </a:t>
            </a:r>
          </a:p>
          <a:p>
            <a:r>
              <a:rPr lang="en-IN" sz="2300" dirty="0"/>
              <a:t>Use HTTP Only cookies </a:t>
            </a:r>
          </a:p>
          <a:p>
            <a:r>
              <a:rPr lang="en-IN" sz="2300" dirty="0"/>
              <a:t>Enable XSS protection headers </a:t>
            </a:r>
          </a:p>
          <a:p>
            <a:pPr marL="0" indent="0">
              <a:buNone/>
            </a:pPr>
            <a:endParaRPr lang="en-IN" sz="2300" dirty="0"/>
          </a:p>
          <a:p>
            <a:pPr marL="0" indent="0">
              <a:buNone/>
            </a:pPr>
            <a:r>
              <a:rPr lang="en-IN" sz="2300" b="1" dirty="0"/>
              <a:t>Example Fix:</a:t>
            </a:r>
          </a:p>
          <a:p>
            <a:r>
              <a:rPr lang="en-IN" sz="2300" dirty="0"/>
              <a:t>Instead of:</a:t>
            </a:r>
          </a:p>
          <a:p>
            <a:pPr marL="0" indent="0">
              <a:buNone/>
            </a:pPr>
            <a:r>
              <a:rPr lang="en-IN" sz="2300" dirty="0"/>
              <a:t>                   &lt;h1&gt;User input&lt;/h1&gt;</a:t>
            </a:r>
          </a:p>
          <a:p>
            <a:r>
              <a:rPr lang="en-IN" sz="2300" dirty="0"/>
              <a:t>Use:</a:t>
            </a:r>
          </a:p>
          <a:p>
            <a:pPr marL="0" indent="0">
              <a:buNone/>
            </a:pPr>
            <a:r>
              <a:rPr lang="en-IN" sz="2300" dirty="0"/>
              <a:t>                   &lt;h1&gt;&amp;</a:t>
            </a:r>
            <a:r>
              <a:rPr lang="en-IN" sz="2300" dirty="0" err="1"/>
              <a:t>lt;script&amp;gt;alert</a:t>
            </a:r>
            <a:r>
              <a:rPr lang="en-IN" sz="2300" dirty="0"/>
              <a:t>(1)&amp;lt;/script&amp;gt;&lt;/h1&gt;</a:t>
            </a:r>
          </a:p>
          <a:p>
            <a:endParaRPr lang="en-IN" dirty="0"/>
          </a:p>
        </p:txBody>
      </p:sp>
      <p:pic>
        <p:nvPicPr>
          <p:cNvPr id="5" name="Picture 4">
            <a:extLst>
              <a:ext uri="{FF2B5EF4-FFF2-40B4-BE49-F238E27FC236}">
                <a16:creationId xmlns:a16="http://schemas.microsoft.com/office/drawing/2014/main" id="{1A102935-E888-7318-6B68-8B0787E8A9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7046" y="0"/>
            <a:ext cx="5504953" cy="6130456"/>
          </a:xfrm>
          <a:prstGeom prst="rect">
            <a:avLst/>
          </a:prstGeom>
        </p:spPr>
      </p:pic>
    </p:spTree>
    <p:extLst>
      <p:ext uri="{BB962C8B-B14F-4D97-AF65-F5344CB8AC3E}">
        <p14:creationId xmlns:p14="http://schemas.microsoft.com/office/powerpoint/2010/main" val="3516016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60A23-C472-1C49-2452-36C4AA61B1A5}"/>
              </a:ext>
            </a:extLst>
          </p:cNvPr>
          <p:cNvSpPr>
            <a:spLocks noGrp="1"/>
          </p:cNvSpPr>
          <p:nvPr>
            <p:ph type="title"/>
          </p:nvPr>
        </p:nvSpPr>
        <p:spPr>
          <a:xfrm>
            <a:off x="270344" y="603666"/>
            <a:ext cx="11242774" cy="612775"/>
          </a:xfrm>
        </p:spPr>
        <p:txBody>
          <a:bodyPr/>
          <a:lstStyle/>
          <a:p>
            <a:r>
              <a:rPr lang="en-IN" dirty="0"/>
              <a:t>CONCLUSION</a:t>
            </a:r>
          </a:p>
        </p:txBody>
      </p:sp>
      <p:sp>
        <p:nvSpPr>
          <p:cNvPr id="3" name="Content Placeholder 2">
            <a:extLst>
              <a:ext uri="{FF2B5EF4-FFF2-40B4-BE49-F238E27FC236}">
                <a16:creationId xmlns:a16="http://schemas.microsoft.com/office/drawing/2014/main" id="{06B09480-0CF8-156D-99DC-56BB2A9AFAB0}"/>
              </a:ext>
            </a:extLst>
          </p:cNvPr>
          <p:cNvSpPr>
            <a:spLocks noGrp="1"/>
          </p:cNvSpPr>
          <p:nvPr>
            <p:ph idx="1"/>
          </p:nvPr>
        </p:nvSpPr>
        <p:spPr>
          <a:xfrm>
            <a:off x="270344" y="1675075"/>
            <a:ext cx="7100515" cy="1879158"/>
          </a:xfrm>
        </p:spPr>
        <p:txBody>
          <a:bodyPr/>
          <a:lstStyle/>
          <a:p>
            <a:pPr marL="0" indent="0">
              <a:buNone/>
            </a:pPr>
            <a:r>
              <a:rPr lang="en-US" sz="1800" dirty="0"/>
              <a:t>           This project successfully demonstrated </a:t>
            </a:r>
          </a:p>
          <a:p>
            <a:pPr marL="0" indent="0">
              <a:buNone/>
            </a:pPr>
            <a:r>
              <a:rPr lang="en-US" sz="1800" dirty="0"/>
              <a:t>how improper input handling leads to HTML Injection vulnerabilities.</a:t>
            </a:r>
          </a:p>
          <a:p>
            <a:pPr marL="0" indent="0">
              <a:buNone/>
            </a:pPr>
            <a:r>
              <a:rPr lang="en-US" sz="1800" dirty="0"/>
              <a:t>The PoC confirmed that malicious scripts can execute in a user’s browser,</a:t>
            </a:r>
          </a:p>
          <a:p>
            <a:pPr marL="0" indent="0">
              <a:buNone/>
            </a:pPr>
            <a:r>
              <a:rPr lang="en-US" sz="1800" dirty="0"/>
              <a:t> highlighting the importance of secure coding and input sanitization.</a:t>
            </a:r>
          </a:p>
          <a:p>
            <a:pPr marL="0" indent="0">
              <a:buNone/>
            </a:pPr>
            <a:endParaRPr lang="en-IN" dirty="0"/>
          </a:p>
        </p:txBody>
      </p:sp>
      <p:pic>
        <p:nvPicPr>
          <p:cNvPr id="5" name="Picture 4">
            <a:extLst>
              <a:ext uri="{FF2B5EF4-FFF2-40B4-BE49-F238E27FC236}">
                <a16:creationId xmlns:a16="http://schemas.microsoft.com/office/drawing/2014/main" id="{4145F6C8-62E3-9292-6175-5146080E55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0271" y="0"/>
            <a:ext cx="5051728" cy="6073141"/>
          </a:xfrm>
          <a:prstGeom prst="rect">
            <a:avLst/>
          </a:prstGeom>
        </p:spPr>
      </p:pic>
    </p:spTree>
    <p:extLst>
      <p:ext uri="{BB962C8B-B14F-4D97-AF65-F5344CB8AC3E}">
        <p14:creationId xmlns:p14="http://schemas.microsoft.com/office/powerpoint/2010/main" val="1046932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endParaRPr lang="en-IN" dirty="0"/>
          </a:p>
        </p:txBody>
      </p:sp>
      <p:sp>
        <p:nvSpPr>
          <p:cNvPr id="3" name="TextBox 2">
            <a:extLst>
              <a:ext uri="{FF2B5EF4-FFF2-40B4-BE49-F238E27FC236}">
                <a16:creationId xmlns:a16="http://schemas.microsoft.com/office/drawing/2014/main" id="{03DA05C3-84E6-2029-C057-3F55450642C7}"/>
              </a:ext>
            </a:extLst>
          </p:cNvPr>
          <p:cNvSpPr txBox="1"/>
          <p:nvPr/>
        </p:nvSpPr>
        <p:spPr>
          <a:xfrm>
            <a:off x="270344" y="604299"/>
            <a:ext cx="8871668" cy="584775"/>
          </a:xfrm>
          <a:prstGeom prst="rect">
            <a:avLst/>
          </a:prstGeom>
          <a:noFill/>
        </p:spPr>
        <p:txBody>
          <a:bodyPr wrap="square">
            <a:spAutoFit/>
          </a:bodyPr>
          <a:lstStyle/>
          <a:p>
            <a:r>
              <a:rPr lang="en-IN" sz="3200" b="1" dirty="0"/>
              <a:t>REFERENCES</a:t>
            </a:r>
          </a:p>
        </p:txBody>
      </p:sp>
      <p:sp>
        <p:nvSpPr>
          <p:cNvPr id="6" name="TextBox 5">
            <a:extLst>
              <a:ext uri="{FF2B5EF4-FFF2-40B4-BE49-F238E27FC236}">
                <a16:creationId xmlns:a16="http://schemas.microsoft.com/office/drawing/2014/main" id="{F2D81713-A3A5-F2B6-4241-5A2550E93080}"/>
              </a:ext>
            </a:extLst>
          </p:cNvPr>
          <p:cNvSpPr txBox="1"/>
          <p:nvPr/>
        </p:nvSpPr>
        <p:spPr>
          <a:xfrm>
            <a:off x="270345" y="1105232"/>
            <a:ext cx="8006963" cy="3970318"/>
          </a:xfrm>
          <a:prstGeom prst="rect">
            <a:avLst/>
          </a:prstGeom>
          <a:noFill/>
        </p:spPr>
        <p:txBody>
          <a:bodyPr wrap="square">
            <a:spAutoFit/>
          </a:bodyPr>
          <a:lstStyle/>
          <a:p>
            <a:endParaRPr lang="en-IN" dirty="0"/>
          </a:p>
          <a:p>
            <a:endParaRPr lang="en-IN" dirty="0"/>
          </a:p>
          <a:p>
            <a:r>
              <a:rPr lang="en-IN" dirty="0"/>
              <a:t>PortSwigger – </a:t>
            </a:r>
            <a:r>
              <a:rPr lang="en-IN" dirty="0">
                <a:hlinkClick r:id="rId2"/>
              </a:rPr>
              <a:t>https://portswigger.net/web-security</a:t>
            </a:r>
            <a:r>
              <a:rPr lang="en-IN" dirty="0"/>
              <a:t> </a:t>
            </a:r>
          </a:p>
          <a:p>
            <a:endParaRPr lang="en-IN" dirty="0"/>
          </a:p>
          <a:p>
            <a:endParaRPr lang="en-IN" dirty="0"/>
          </a:p>
          <a:p>
            <a:endParaRPr lang="en-IN" dirty="0"/>
          </a:p>
          <a:p>
            <a:endParaRPr lang="en-IN" dirty="0"/>
          </a:p>
          <a:p>
            <a:endParaRPr lang="en-IN" dirty="0"/>
          </a:p>
          <a:p>
            <a:endParaRPr lang="en-IN" dirty="0"/>
          </a:p>
          <a:p>
            <a:endParaRPr lang="en-IN" dirty="0"/>
          </a:p>
          <a:p>
            <a:r>
              <a:rPr lang="en-IN" dirty="0"/>
              <a:t>Reflected XSS Documentation – </a:t>
            </a:r>
            <a:r>
              <a:rPr lang="en-IN" dirty="0">
                <a:hlinkClick r:id="rId3"/>
              </a:rPr>
              <a:t>https://portswigger.net/web-security/cross-site-scripting/reflected</a:t>
            </a:r>
            <a:r>
              <a:rPr lang="en-IN" dirty="0"/>
              <a:t> </a:t>
            </a:r>
          </a:p>
          <a:p>
            <a:endParaRPr lang="en-IN" dirty="0"/>
          </a:p>
          <a:p>
            <a:endParaRPr lang="en-IN" dirty="0"/>
          </a:p>
        </p:txBody>
      </p:sp>
      <p:pic>
        <p:nvPicPr>
          <p:cNvPr id="5" name="Picture 4">
            <a:extLst>
              <a:ext uri="{FF2B5EF4-FFF2-40B4-BE49-F238E27FC236}">
                <a16:creationId xmlns:a16="http://schemas.microsoft.com/office/drawing/2014/main" id="{B1513002-2D74-DA9A-7896-0C383C3168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6821" y="1004549"/>
            <a:ext cx="3277057" cy="4848902"/>
          </a:xfrm>
          <a:prstGeom prst="rect">
            <a:avLst/>
          </a:prstGeom>
        </p:spPr>
      </p:pic>
    </p:spTree>
    <p:extLst>
      <p:ext uri="{BB962C8B-B14F-4D97-AF65-F5344CB8AC3E}">
        <p14:creationId xmlns:p14="http://schemas.microsoft.com/office/powerpoint/2010/main" val="1173862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7392</TotalTime>
  <Words>460</Words>
  <Application>Microsoft Office PowerPoint</Application>
  <PresentationFormat>Widescreen</PresentationFormat>
  <Paragraphs>98</Paragraphs>
  <Slides>15</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BIA Template</vt:lpstr>
      <vt:lpstr>PowerPoint Presentation</vt:lpstr>
      <vt:lpstr>PowerPoint Presentation</vt:lpstr>
      <vt:lpstr>RESEARCH </vt:lpstr>
      <vt:lpstr>TECHNOLOGY STACK</vt:lpstr>
      <vt:lpstr>VULNERABILITY DESCRIPTION</vt:lpstr>
      <vt:lpstr>PROOF OF CONCEPT (PoC)</vt:lpstr>
      <vt:lpstr>Figure 1: Initial vulnerable website homepage</vt:lpstr>
      <vt:lpstr>Figure 2: Injecting malicious script into search field</vt:lpstr>
      <vt:lpstr>Figure 3: Successful execution of injected script (alert box)</vt:lpstr>
      <vt:lpstr>IMPACT ANALYSIS</vt:lpstr>
      <vt:lpstr>CODE / TOOLS USED</vt:lpstr>
      <vt:lpstr>RECOMMENDATIONS (MITIGATION)</vt:lpstr>
      <vt:lpstr>CONCLUSION</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Bhuni Bhuni</cp:lastModifiedBy>
  <cp:revision>2256</cp:revision>
  <dcterms:created xsi:type="dcterms:W3CDTF">2020-12-23T13:36:00Z</dcterms:created>
  <dcterms:modified xsi:type="dcterms:W3CDTF">2026-04-30T07:01:16Z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